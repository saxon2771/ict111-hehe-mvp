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0"/>
  </p:notesMasterIdLst>
  <p:sldIdLst>
    <p:sldId id="256" r:id="rId2"/>
    <p:sldId id="259" r:id="rId3"/>
    <p:sldId id="298" r:id="rId4"/>
    <p:sldId id="260" r:id="rId5"/>
    <p:sldId id="262" r:id="rId6"/>
    <p:sldId id="299" r:id="rId7"/>
    <p:sldId id="263" r:id="rId8"/>
    <p:sldId id="269" r:id="rId9"/>
    <p:sldId id="271" r:id="rId10"/>
    <p:sldId id="258" r:id="rId11"/>
    <p:sldId id="261" r:id="rId12"/>
    <p:sldId id="300" r:id="rId13"/>
    <p:sldId id="273" r:id="rId14"/>
    <p:sldId id="275" r:id="rId15"/>
    <p:sldId id="264" r:id="rId16"/>
    <p:sldId id="302" r:id="rId17"/>
    <p:sldId id="303" r:id="rId18"/>
    <p:sldId id="267" r:id="rId19"/>
  </p:sldIdLst>
  <p:sldSz cx="9144000" cy="5143500" type="screen16x9"/>
  <p:notesSz cx="6858000" cy="9144000"/>
  <p:embeddedFontLst>
    <p:embeddedFont>
      <p:font typeface="Anaheim" panose="020B0604020202020204" charset="0"/>
      <p:regular r:id="rId21"/>
      <p:bold r:id="rId22"/>
    </p:embeddedFont>
    <p:embeddedFont>
      <p:font typeface="Nunito Light" pitchFamily="2" charset="0"/>
      <p:regular r:id="rId23"/>
      <p: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D0C0F8-E8D7-46C9-A92F-CA43A2C92377}">
  <a:tblStyle styleId="{3FD0C0F8-E8D7-46C9-A92F-CA43A2C923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4C4B3F8-09B1-4D59-9353-D898D9CF9AC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16D4EE72-8010-9B5D-268A-91EA281D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>
            <a:extLst>
              <a:ext uri="{FF2B5EF4-FFF2-40B4-BE49-F238E27FC236}">
                <a16:creationId xmlns:a16="http://schemas.microsoft.com/office/drawing/2014/main" id="{18BBE273-0A51-0A81-E42A-ED16D07AC6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6_322:notes">
            <a:extLst>
              <a:ext uri="{FF2B5EF4-FFF2-40B4-BE49-F238E27FC236}">
                <a16:creationId xmlns:a16="http://schemas.microsoft.com/office/drawing/2014/main" id="{5600C391-ED8C-B5A1-B86F-2F5AFCE4A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94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>
          <a:extLst>
            <a:ext uri="{FF2B5EF4-FFF2-40B4-BE49-F238E27FC236}">
              <a16:creationId xmlns:a16="http://schemas.microsoft.com/office/drawing/2014/main" id="{5A79915A-BA98-F753-E7E1-76204A2C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54dda1946d_6_332:notes">
            <a:extLst>
              <a:ext uri="{FF2B5EF4-FFF2-40B4-BE49-F238E27FC236}">
                <a16:creationId xmlns:a16="http://schemas.microsoft.com/office/drawing/2014/main" id="{9CFFF019-C5B0-EF50-10F8-0F4F0A087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54dda1946d_6_332:notes">
            <a:extLst>
              <a:ext uri="{FF2B5EF4-FFF2-40B4-BE49-F238E27FC236}">
                <a16:creationId xmlns:a16="http://schemas.microsoft.com/office/drawing/2014/main" id="{1FC218C9-EC68-8DF1-4A8F-F3191E5EF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472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02c29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02c2953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BC89C7B0-02F7-DCC0-A54B-05730666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02c295343_0_0:notes">
            <a:extLst>
              <a:ext uri="{FF2B5EF4-FFF2-40B4-BE49-F238E27FC236}">
                <a16:creationId xmlns:a16="http://schemas.microsoft.com/office/drawing/2014/main" id="{2D0FF35A-FAE8-E4B1-5115-5DD16E621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02c295343_0_0:notes">
            <a:extLst>
              <a:ext uri="{FF2B5EF4-FFF2-40B4-BE49-F238E27FC236}">
                <a16:creationId xmlns:a16="http://schemas.microsoft.com/office/drawing/2014/main" id="{A788F779-07AE-A863-815D-6AEB51120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506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51722045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51722045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8a566a1a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8a566a1a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65D79561-A7B1-FF82-B602-D99680C5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4d99d1a72_0_57:notes">
            <a:extLst>
              <a:ext uri="{FF2B5EF4-FFF2-40B4-BE49-F238E27FC236}">
                <a16:creationId xmlns:a16="http://schemas.microsoft.com/office/drawing/2014/main" id="{36665E8E-218D-1ABA-3ED8-A042C524EC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4d99d1a72_0_57:notes">
            <a:extLst>
              <a:ext uri="{FF2B5EF4-FFF2-40B4-BE49-F238E27FC236}">
                <a16:creationId xmlns:a16="http://schemas.microsoft.com/office/drawing/2014/main" id="{478C2FF5-1426-BC06-DE56-877E1D053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94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0904B090-B0C2-5C8A-5154-19396DBF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4d99d1a72_0_57:notes">
            <a:extLst>
              <a:ext uri="{FF2B5EF4-FFF2-40B4-BE49-F238E27FC236}">
                <a16:creationId xmlns:a16="http://schemas.microsoft.com/office/drawing/2014/main" id="{480C479A-BFD0-B020-8646-5296423F5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4d99d1a72_0_57:notes">
            <a:extLst>
              <a:ext uri="{FF2B5EF4-FFF2-40B4-BE49-F238E27FC236}">
                <a16:creationId xmlns:a16="http://schemas.microsoft.com/office/drawing/2014/main" id="{9E14E3CC-28D7-09E2-E1EB-4B9E4896F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1671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01100" cy="40647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49" name="Google Shape;149;p16"/>
          <p:cNvSpPr>
            <a:spLocks noGrp="1"/>
          </p:cNvSpPr>
          <p:nvPr>
            <p:ph type="pic" idx="3"/>
          </p:nvPr>
        </p:nvSpPr>
        <p:spPr>
          <a:xfrm>
            <a:off x="3595575" y="539500"/>
            <a:ext cx="2191200" cy="2328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50" name="Google Shape;150;p16"/>
          <p:cNvSpPr>
            <a:spLocks noGrp="1"/>
          </p:cNvSpPr>
          <p:nvPr>
            <p:ph type="pic" idx="4"/>
          </p:nvPr>
        </p:nvSpPr>
        <p:spPr>
          <a:xfrm>
            <a:off x="3595575" y="2953775"/>
            <a:ext cx="4835100" cy="1650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l="73637" t="130" b="130"/>
          <a:stretch/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5" name="Google Shape;165;p18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2145600" y="2101875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2"/>
          </p:nvPr>
        </p:nvSpPr>
        <p:spPr>
          <a:xfrm>
            <a:off x="2145600" y="2101150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97" name="Google Shape;197;p20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l="14814" b="34262"/>
          <a:stretch/>
        </p:blipFill>
        <p:spPr>
          <a:xfrm rot="10800000">
            <a:off x="7654149" y="-40526"/>
            <a:ext cx="1506076" cy="88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6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8" name="Google Shape;278;p28"/>
          <p:cNvGrpSpPr/>
          <p:nvPr/>
        </p:nvGrpSpPr>
        <p:grpSpPr>
          <a:xfrm>
            <a:off x="0" y="12"/>
            <a:ext cx="9144000" cy="5143487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 flipH="1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0" y="0"/>
            <a:ext cx="4012877" cy="3594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30" b="130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30" b="130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70" r:id="rId16"/>
    <p:sldLayoutId id="2147483671" r:id="rId17"/>
    <p:sldLayoutId id="2147483674" r:id="rId18"/>
    <p:sldLayoutId id="2147483676" r:id="rId19"/>
    <p:sldLayoutId id="214748367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>
            <a:spLocks noGrp="1"/>
          </p:cNvSpPr>
          <p:nvPr>
            <p:ph type="ctrTitle"/>
          </p:nvPr>
        </p:nvSpPr>
        <p:spPr>
          <a:xfrm>
            <a:off x="972300" y="1325635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SMART CLASS ATTENDANCE SYSTEM</a:t>
            </a:r>
            <a:endParaRPr dirty="0"/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1"/>
          </p:nvPr>
        </p:nvSpPr>
        <p:spPr>
          <a:xfrm>
            <a:off x="972300" y="3017745"/>
            <a:ext cx="7199400" cy="12042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Designed and Developed by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Htut Myat Moe (6709528)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Sai Kaung Htet Kyaw (6709580)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Hein Htet (6709748)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8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26493" r="26493"/>
          <a:stretch/>
        </p:blipFill>
        <p:spPr>
          <a:xfrm>
            <a:off x="5643775" y="539500"/>
            <a:ext cx="2787000" cy="40644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363" name="Google Shape;363;p38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5023206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Challenges of Traditional Classroom Attendance</a:t>
            </a:r>
            <a:endParaRPr dirty="0"/>
          </a:p>
        </p:txBody>
      </p:sp>
      <p:sp>
        <p:nvSpPr>
          <p:cNvPr id="364" name="Google Shape;364;p38"/>
          <p:cNvSpPr txBox="1">
            <a:spLocks noGrp="1"/>
          </p:cNvSpPr>
          <p:nvPr>
            <p:ph type="subTitle" idx="3"/>
          </p:nvPr>
        </p:nvSpPr>
        <p:spPr>
          <a:xfrm>
            <a:off x="713224" y="2109675"/>
            <a:ext cx="4830325" cy="1362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b="1" dirty="0"/>
              <a:t>Time-Consuming</a:t>
            </a:r>
          </a:p>
          <a:p>
            <a:pPr marL="152400" indent="0">
              <a:buNone/>
            </a:pPr>
            <a:endParaRPr lang="en-US" dirty="0"/>
          </a:p>
          <a:p>
            <a:pPr marL="323850" lvl="0" indent="-171450">
              <a:buFont typeface="Arial" panose="020B0604020202020204" pitchFamily="34" charset="0"/>
              <a:buChar char="•"/>
            </a:pPr>
            <a:r>
              <a:rPr lang="en-US" dirty="0"/>
              <a:t>Lecturers spend several minutes calling student names every class. </a:t>
            </a:r>
          </a:p>
          <a:p>
            <a:pPr marL="3238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323850" lvl="0" indent="-171450">
              <a:buFont typeface="Arial" panose="020B0604020202020204" pitchFamily="34" charset="0"/>
              <a:buChar char="•"/>
            </a:pPr>
            <a:r>
              <a:rPr lang="en-US" dirty="0"/>
              <a:t>Reduces valuable teaching and learning time.</a:t>
            </a:r>
          </a:p>
        </p:txBody>
      </p:sp>
      <p:sp>
        <p:nvSpPr>
          <p:cNvPr id="2" name="Google Shape;364;p38">
            <a:extLst>
              <a:ext uri="{FF2B5EF4-FFF2-40B4-BE49-F238E27FC236}">
                <a16:creationId xmlns:a16="http://schemas.microsoft.com/office/drawing/2014/main" id="{F5C4EA76-A28E-0666-F7CF-A8246D77DB70}"/>
              </a:ext>
            </a:extLst>
          </p:cNvPr>
          <p:cNvSpPr txBox="1">
            <a:spLocks/>
          </p:cNvSpPr>
          <p:nvPr/>
        </p:nvSpPr>
        <p:spPr>
          <a:xfrm>
            <a:off x="713223" y="3474868"/>
            <a:ext cx="4830325" cy="136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52400" indent="0">
              <a:buNone/>
            </a:pPr>
            <a:r>
              <a:rPr lang="en-US" b="1" dirty="0"/>
              <a:t>Human Errors</a:t>
            </a:r>
          </a:p>
          <a:p>
            <a:pPr marL="152400" indent="0">
              <a:buNone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Attendance may be recorded incorrectly. 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Students can be marked absent by mistake.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Handwritten records are difficult to verify.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F08AE735-E2A7-99B6-3585-6E8B99526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8">
            <a:extLst>
              <a:ext uri="{FF2B5EF4-FFF2-40B4-BE49-F238E27FC236}">
                <a16:creationId xmlns:a16="http://schemas.microsoft.com/office/drawing/2014/main" id="{C4749E96-BD9A-2887-7FA2-A67D6CE11AA4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26493" r="26493"/>
          <a:stretch/>
        </p:blipFill>
        <p:spPr>
          <a:xfrm>
            <a:off x="5643775" y="539500"/>
            <a:ext cx="2787000" cy="40644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363" name="Google Shape;363;p38">
            <a:extLst>
              <a:ext uri="{FF2B5EF4-FFF2-40B4-BE49-F238E27FC236}">
                <a16:creationId xmlns:a16="http://schemas.microsoft.com/office/drawing/2014/main" id="{DFE2D456-3E16-B89B-EC29-03C5AD75C9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5023206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Challenges of Traditional Classroom Attendance</a:t>
            </a:r>
            <a:endParaRPr dirty="0"/>
          </a:p>
        </p:txBody>
      </p:sp>
      <p:sp>
        <p:nvSpPr>
          <p:cNvPr id="364" name="Google Shape;364;p38">
            <a:extLst>
              <a:ext uri="{FF2B5EF4-FFF2-40B4-BE49-F238E27FC236}">
                <a16:creationId xmlns:a16="http://schemas.microsoft.com/office/drawing/2014/main" id="{470586DB-127B-C992-FFAE-B9CFB16C70D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3224" y="2109675"/>
            <a:ext cx="4830325" cy="1362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b="1" dirty="0"/>
              <a:t>Duplicate or Missing Records</a:t>
            </a:r>
          </a:p>
          <a:p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Paper attendance sheets can be lost or damaged.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Students may accidentally sign more than once or forget to sign.</a:t>
            </a:r>
          </a:p>
        </p:txBody>
      </p:sp>
      <p:sp>
        <p:nvSpPr>
          <p:cNvPr id="2" name="Google Shape;364;p38">
            <a:extLst>
              <a:ext uri="{FF2B5EF4-FFF2-40B4-BE49-F238E27FC236}">
                <a16:creationId xmlns:a16="http://schemas.microsoft.com/office/drawing/2014/main" id="{A05C9564-1B3C-2999-3D74-49496AD746B1}"/>
              </a:ext>
            </a:extLst>
          </p:cNvPr>
          <p:cNvSpPr txBox="1">
            <a:spLocks/>
          </p:cNvSpPr>
          <p:nvPr/>
        </p:nvSpPr>
        <p:spPr>
          <a:xfrm>
            <a:off x="713223" y="3474868"/>
            <a:ext cx="4830325" cy="136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52400" indent="0">
              <a:buNone/>
            </a:pPr>
            <a:r>
              <a:rPr lang="en-US" b="1" dirty="0"/>
              <a:t>Difficult Attendance Monitoring</a:t>
            </a:r>
          </a:p>
          <a:p>
            <a:pPr marL="152400" indent="0">
              <a:buNone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Lecturers must manually calculate attendance percentages. 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Finding past attendance records is slow and inconvenient.</a:t>
            </a:r>
          </a:p>
        </p:txBody>
      </p:sp>
    </p:spTree>
    <p:extLst>
      <p:ext uri="{BB962C8B-B14F-4D97-AF65-F5344CB8AC3E}">
        <p14:creationId xmlns:p14="http://schemas.microsoft.com/office/powerpoint/2010/main" val="39201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9"/>
          <p:cNvPicPr preferRelativeResize="0"/>
          <p:nvPr/>
        </p:nvPicPr>
        <p:blipFill rotWithShape="1">
          <a:blip r:embed="rId3">
            <a:alphaModFix/>
          </a:blip>
          <a:srcRect t="130" b="130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9"/>
          <p:cNvSpPr txBox="1">
            <a:spLocks noGrp="1"/>
          </p:cNvSpPr>
          <p:nvPr>
            <p:ph type="title"/>
          </p:nvPr>
        </p:nvSpPr>
        <p:spPr>
          <a:xfrm>
            <a:off x="4749506" y="1091465"/>
            <a:ext cx="4186238" cy="2960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Who Benefits from the Smart Classroom Attendance System?</a:t>
            </a:r>
          </a:p>
        </p:txBody>
      </p:sp>
      <p:pic>
        <p:nvPicPr>
          <p:cNvPr id="372" name="Google Shape;372;p39"/>
          <p:cNvPicPr preferRelativeResize="0">
            <a:picLocks noGrp="1"/>
          </p:cNvPicPr>
          <p:nvPr>
            <p:ph type="pic" idx="3"/>
          </p:nvPr>
        </p:nvPicPr>
        <p:blipFill>
          <a:blip r:embed="rId4">
            <a:alphaModFix/>
          </a:blip>
          <a:srcRect l="14551" r="14551"/>
          <a:stretch/>
        </p:blipFill>
        <p:spPr>
          <a:xfrm>
            <a:off x="650347" y="539500"/>
            <a:ext cx="3941979" cy="4064400"/>
          </a:xfrm>
          <a:prstGeom prst="round2DiagRect">
            <a:avLst>
              <a:gd name="adj1" fmla="val 0"/>
              <a:gd name="adj2" fmla="val 500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/>
          <p:nvPr/>
        </p:nvSpPr>
        <p:spPr>
          <a:xfrm>
            <a:off x="1317756" y="1649136"/>
            <a:ext cx="1761206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41"/>
          <p:cNvSpPr/>
          <p:nvPr/>
        </p:nvSpPr>
        <p:spPr>
          <a:xfrm>
            <a:off x="1317758" y="3054549"/>
            <a:ext cx="1761204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41"/>
          <p:cNvSpPr txBox="1">
            <a:spLocks noGrp="1"/>
          </p:cNvSpPr>
          <p:nvPr>
            <p:ph type="subTitle" idx="4"/>
          </p:nvPr>
        </p:nvSpPr>
        <p:spPr>
          <a:xfrm>
            <a:off x="1427659" y="3065860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Lecturers</a:t>
            </a:r>
            <a:endParaRPr dirty="0"/>
          </a:p>
        </p:txBody>
      </p:sp>
      <p:sp>
        <p:nvSpPr>
          <p:cNvPr id="386" name="Google Shape;386;p4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Target Users</a:t>
            </a:r>
            <a:endParaRPr dirty="0"/>
          </a:p>
        </p:txBody>
      </p:sp>
      <p:sp>
        <p:nvSpPr>
          <p:cNvPr id="387" name="Google Shape;387;p41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Saves teaching time.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Improves attendance accuracy.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Simplifies attendance management.</a:t>
            </a:r>
          </a:p>
        </p:txBody>
      </p:sp>
      <p:sp>
        <p:nvSpPr>
          <p:cNvPr id="388" name="Google Shape;388;p41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Fast and easy attendance process.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Access attendance records anytime.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Increased transparency.</a:t>
            </a:r>
          </a:p>
        </p:txBody>
      </p:sp>
      <p:sp>
        <p:nvSpPr>
          <p:cNvPr id="389" name="Google Shape;389;p41"/>
          <p:cNvSpPr txBox="1">
            <a:spLocks noGrp="1"/>
          </p:cNvSpPr>
          <p:nvPr>
            <p:ph type="subTitle" idx="3"/>
          </p:nvPr>
        </p:nvSpPr>
        <p:spPr>
          <a:xfrm>
            <a:off x="1427659" y="1667850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Students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>
          <a:extLst>
            <a:ext uri="{FF2B5EF4-FFF2-40B4-BE49-F238E27FC236}">
              <a16:creationId xmlns:a16="http://schemas.microsoft.com/office/drawing/2014/main" id="{3AA83E90-B9C7-B4C0-E474-6F578C06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>
            <a:extLst>
              <a:ext uri="{FF2B5EF4-FFF2-40B4-BE49-F238E27FC236}">
                <a16:creationId xmlns:a16="http://schemas.microsoft.com/office/drawing/2014/main" id="{396197BE-D9BF-B06C-A30B-D0A1A39EAC5B}"/>
              </a:ext>
            </a:extLst>
          </p:cNvPr>
          <p:cNvSpPr/>
          <p:nvPr/>
        </p:nvSpPr>
        <p:spPr>
          <a:xfrm>
            <a:off x="803400" y="1649136"/>
            <a:ext cx="2275563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41">
            <a:extLst>
              <a:ext uri="{FF2B5EF4-FFF2-40B4-BE49-F238E27FC236}">
                <a16:creationId xmlns:a16="http://schemas.microsoft.com/office/drawing/2014/main" id="{77AFA62D-CBD8-9D2B-B274-D7E9A16DB3DD}"/>
              </a:ext>
            </a:extLst>
          </p:cNvPr>
          <p:cNvSpPr/>
          <p:nvPr/>
        </p:nvSpPr>
        <p:spPr>
          <a:xfrm>
            <a:off x="803399" y="3054549"/>
            <a:ext cx="2275563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41">
            <a:extLst>
              <a:ext uri="{FF2B5EF4-FFF2-40B4-BE49-F238E27FC236}">
                <a16:creationId xmlns:a16="http://schemas.microsoft.com/office/drawing/2014/main" id="{A4EDEDC4-0BBF-C575-BAE8-0A14EE9B8A0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42975" y="3065860"/>
            <a:ext cx="2026084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Academic Departments</a:t>
            </a:r>
            <a:endParaRPr dirty="0"/>
          </a:p>
        </p:txBody>
      </p:sp>
      <p:sp>
        <p:nvSpPr>
          <p:cNvPr id="386" name="Google Shape;386;p41">
            <a:extLst>
              <a:ext uri="{FF2B5EF4-FFF2-40B4-BE49-F238E27FC236}">
                <a16:creationId xmlns:a16="http://schemas.microsoft.com/office/drawing/2014/main" id="{922D9D96-F73E-D2A9-E9AF-60322604E2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Target Users</a:t>
            </a:r>
            <a:endParaRPr dirty="0"/>
          </a:p>
        </p:txBody>
      </p:sp>
      <p:sp>
        <p:nvSpPr>
          <p:cNvPr id="387" name="Google Shape;387;p41">
            <a:extLst>
              <a:ext uri="{FF2B5EF4-FFF2-40B4-BE49-F238E27FC236}">
                <a16:creationId xmlns:a16="http://schemas.microsoft.com/office/drawing/2014/main" id="{B1BC7971-8B93-7C72-F4D4-308579868A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Access attendance reports.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Track attendance trends.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Improve academic administration.</a:t>
            </a:r>
          </a:p>
        </p:txBody>
      </p:sp>
      <p:sp>
        <p:nvSpPr>
          <p:cNvPr id="388" name="Google Shape;388;p41">
            <a:extLst>
              <a:ext uri="{FF2B5EF4-FFF2-40B4-BE49-F238E27FC236}">
                <a16:creationId xmlns:a16="http://schemas.microsoft.com/office/drawing/2014/main" id="{8DD4FD32-FA10-7826-20E3-D94CA584BD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Centralized attendance records.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Easier data management.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Reduced paperwork.</a:t>
            </a:r>
          </a:p>
        </p:txBody>
      </p:sp>
      <p:sp>
        <p:nvSpPr>
          <p:cNvPr id="389" name="Google Shape;389;p41">
            <a:extLst>
              <a:ext uri="{FF2B5EF4-FFF2-40B4-BE49-F238E27FC236}">
                <a16:creationId xmlns:a16="http://schemas.microsoft.com/office/drawing/2014/main" id="{060F3788-D696-AD5F-EAEB-D8CC1951E71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42975" y="1667850"/>
            <a:ext cx="2026084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Administrators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2249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User Evidence</a:t>
            </a:r>
            <a:endParaRPr dirty="0"/>
          </a:p>
        </p:txBody>
      </p:sp>
      <p:sp>
        <p:nvSpPr>
          <p:cNvPr id="404" name="Google Shape;404;p42"/>
          <p:cNvSpPr txBox="1">
            <a:spLocks noGrp="1"/>
          </p:cNvSpPr>
          <p:nvPr>
            <p:ph type="subTitle" idx="4"/>
          </p:nvPr>
        </p:nvSpPr>
        <p:spPr>
          <a:xfrm>
            <a:off x="888352" y="1572158"/>
            <a:ext cx="1240486" cy="475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Students</a:t>
            </a:r>
            <a:r>
              <a:rPr lang="en" dirty="0"/>
              <a:t> 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42"/>
          <p:cNvSpPr txBox="1">
            <a:spLocks noGrp="1"/>
          </p:cNvSpPr>
          <p:nvPr>
            <p:ph type="subTitle" idx="1"/>
          </p:nvPr>
        </p:nvSpPr>
        <p:spPr>
          <a:xfrm>
            <a:off x="395745" y="2211355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Students want to check their attendance history anytime. </a:t>
            </a:r>
          </a:p>
          <a:p>
            <a:pPr marL="152400" lvl="0" indent="0"/>
            <a:endParaRPr lang="en-US" sz="105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They prefer immediate confirmation after recording attendance. </a:t>
            </a:r>
          </a:p>
          <a:p>
            <a:pPr marL="152400" lvl="0" indent="0"/>
            <a:endParaRPr lang="en-US" sz="105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Easy access increases transparency and reduces misunderstandings.</a:t>
            </a:r>
          </a:p>
        </p:txBody>
      </p:sp>
      <p:sp>
        <p:nvSpPr>
          <p:cNvPr id="14" name="Google Shape;404;p42">
            <a:extLst>
              <a:ext uri="{FF2B5EF4-FFF2-40B4-BE49-F238E27FC236}">
                <a16:creationId xmlns:a16="http://schemas.microsoft.com/office/drawing/2014/main" id="{44EFE371-EDF0-CE79-DB51-36C3B1C76151}"/>
              </a:ext>
            </a:extLst>
          </p:cNvPr>
          <p:cNvSpPr txBox="1">
            <a:spLocks/>
          </p:cNvSpPr>
          <p:nvPr/>
        </p:nvSpPr>
        <p:spPr>
          <a:xfrm>
            <a:off x="3705388" y="1572158"/>
            <a:ext cx="1323812" cy="47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Lecturers </a:t>
            </a:r>
          </a:p>
        </p:txBody>
      </p:sp>
      <p:sp>
        <p:nvSpPr>
          <p:cNvPr id="15" name="Google Shape;406;p42">
            <a:extLst>
              <a:ext uri="{FF2B5EF4-FFF2-40B4-BE49-F238E27FC236}">
                <a16:creationId xmlns:a16="http://schemas.microsoft.com/office/drawing/2014/main" id="{D91D11D0-BF88-6C5D-2B07-52966ECCF078}"/>
              </a:ext>
            </a:extLst>
          </p:cNvPr>
          <p:cNvSpPr txBox="1">
            <a:spLocks/>
          </p:cNvSpPr>
          <p:nvPr/>
        </p:nvSpPr>
        <p:spPr>
          <a:xfrm>
            <a:off x="3212781" y="2211355"/>
            <a:ext cx="22257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Lecturers need a centralized attendance dashboard. </a:t>
            </a:r>
          </a:p>
          <a:p>
            <a:pPr marL="152400" lvl="0" indent="0"/>
            <a:endParaRPr lang="en-US" sz="105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Automatic record storage reduces paperwork. </a:t>
            </a:r>
          </a:p>
          <a:p>
            <a:pPr marL="152400" lvl="0" indent="0"/>
            <a:endParaRPr lang="en-US" sz="105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Digital reports simplify attendance tracking and grading.</a:t>
            </a:r>
          </a:p>
        </p:txBody>
      </p:sp>
      <p:sp>
        <p:nvSpPr>
          <p:cNvPr id="16" name="Google Shape;404;p42">
            <a:extLst>
              <a:ext uri="{FF2B5EF4-FFF2-40B4-BE49-F238E27FC236}">
                <a16:creationId xmlns:a16="http://schemas.microsoft.com/office/drawing/2014/main" id="{6A630C4C-4D9B-EBD1-82B7-F3B508D8739C}"/>
              </a:ext>
            </a:extLst>
          </p:cNvPr>
          <p:cNvSpPr txBox="1">
            <a:spLocks/>
          </p:cNvSpPr>
          <p:nvPr/>
        </p:nvSpPr>
        <p:spPr>
          <a:xfrm>
            <a:off x="6522555" y="1572158"/>
            <a:ext cx="2014226" cy="47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Administrators </a:t>
            </a:r>
          </a:p>
        </p:txBody>
      </p:sp>
      <p:sp>
        <p:nvSpPr>
          <p:cNvPr id="17" name="Google Shape;406;p42">
            <a:extLst>
              <a:ext uri="{FF2B5EF4-FFF2-40B4-BE49-F238E27FC236}">
                <a16:creationId xmlns:a16="http://schemas.microsoft.com/office/drawing/2014/main" id="{8B658A59-66AA-FD1C-3712-6A2D1962ECFD}"/>
              </a:ext>
            </a:extLst>
          </p:cNvPr>
          <p:cNvSpPr txBox="1">
            <a:spLocks/>
          </p:cNvSpPr>
          <p:nvPr/>
        </p:nvSpPr>
        <p:spPr>
          <a:xfrm>
            <a:off x="6029948" y="2211355"/>
            <a:ext cx="22257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Administrators require attendance statistics and reports. </a:t>
            </a:r>
          </a:p>
          <a:p>
            <a:pPr marL="152400" lvl="0" indent="0"/>
            <a:endParaRPr lang="en-US" sz="105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They need accurate data for monitoring and decision-making. </a:t>
            </a:r>
          </a:p>
          <a:p>
            <a:pPr marL="152400" lvl="0" indent="0"/>
            <a:endParaRPr lang="en-US" sz="105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050" dirty="0"/>
              <a:t>Centralized records improve efficiency and organization.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"/>
          <p:cNvSpPr txBox="1">
            <a:spLocks noGrp="1"/>
          </p:cNvSpPr>
          <p:nvPr>
            <p:ph type="title"/>
          </p:nvPr>
        </p:nvSpPr>
        <p:spPr>
          <a:xfrm>
            <a:off x="720000" y="389480"/>
            <a:ext cx="7704000" cy="1053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Role-Based Smart Classroom Attendance System</a:t>
            </a:r>
            <a:endParaRPr dirty="0"/>
          </a:p>
        </p:txBody>
      </p:sp>
      <p:graphicFrame>
        <p:nvGraphicFramePr>
          <p:cNvPr id="3" name="Google Shape;559;p54">
            <a:extLst>
              <a:ext uri="{FF2B5EF4-FFF2-40B4-BE49-F238E27FC236}">
                <a16:creationId xmlns:a16="http://schemas.microsoft.com/office/drawing/2014/main" id="{944DF1BC-1F99-DCD1-152E-C6F2F68A44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300258"/>
              </p:ext>
            </p:extLst>
          </p:nvPr>
        </p:nvGraphicFramePr>
        <p:xfrm>
          <a:off x="851969" y="1736393"/>
          <a:ext cx="7453588" cy="2874700"/>
        </p:xfrm>
        <a:graphic>
          <a:graphicData uri="http://schemas.openxmlformats.org/drawingml/2006/table">
            <a:tbl>
              <a:tblPr>
                <a:noFill/>
                <a:tableStyleId>{3FD0C0F8-E8D7-46C9-A92F-CA43A2C92377}</a:tableStyleId>
              </a:tblPr>
              <a:tblGrid>
                <a:gridCol w="172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3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7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sz="1400" b="1" dirty="0">
                        <a:solidFill>
                          <a:schemeClr val="bg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45700" marB="45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Features</a:t>
                      </a:r>
                      <a:endParaRPr sz="1400" b="1" dirty="0">
                        <a:solidFill>
                          <a:schemeClr val="bg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45700" marB="45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Benefits</a:t>
                      </a:r>
                      <a:endParaRPr sz="1400" b="1" dirty="0">
                        <a:solidFill>
                          <a:schemeClr val="bg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45700" marB="45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/>
                        <a:t>Student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Secure login using Student ID and Password.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Record attendance with one click.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View personal attendance history.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Receive instant attendance confirmation.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Faster attendance recording.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Easy access to attendance records.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Reduced attendance disputes.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/>
                        <a:t>Lecturer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Secure lecturer login.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View attendance records in real time.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Search and monitor student attendance.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Generate attendance reports.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Saves class time.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Improves attendance accuracy.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Simplifies attendance management.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/>
                        <a:t>Administrator 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Manage student and lecturer accounts.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Monitor system usage.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Maintain attendance records.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Support system administration.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Centralized management.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Improved data organization.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Easier maintenance.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How the System Works</a:t>
            </a:r>
            <a:endParaRPr dirty="0"/>
          </a:p>
        </p:txBody>
      </p:sp>
      <p:sp>
        <p:nvSpPr>
          <p:cNvPr id="516" name="Google Shape;516;p50"/>
          <p:cNvSpPr txBox="1"/>
          <p:nvPr/>
        </p:nvSpPr>
        <p:spPr>
          <a:xfrm flipH="1">
            <a:off x="712775" y="13320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Student</a:t>
            </a:r>
            <a:endParaRPr sz="1200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7" name="Google Shape;517;p50"/>
          <p:cNvSpPr txBox="1"/>
          <p:nvPr/>
        </p:nvSpPr>
        <p:spPr>
          <a:xfrm flipH="1">
            <a:off x="3534813" y="13320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Login (Student ID &amp; Password)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8" name="Google Shape;518;p50"/>
          <p:cNvSpPr txBox="1"/>
          <p:nvPr/>
        </p:nvSpPr>
        <p:spPr>
          <a:xfrm flipH="1">
            <a:off x="6356875" y="13320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Record Attendance</a:t>
            </a:r>
            <a:endParaRPr sz="1200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9" name="Google Shape;519;p50"/>
          <p:cNvSpPr txBox="1"/>
          <p:nvPr/>
        </p:nvSpPr>
        <p:spPr>
          <a:xfrm flipH="1">
            <a:off x="712749" y="2545906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Attendance Stored</a:t>
            </a:r>
            <a:endParaRPr lang="en-US" sz="1200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p50"/>
          <p:cNvSpPr txBox="1"/>
          <p:nvPr/>
        </p:nvSpPr>
        <p:spPr>
          <a:xfrm flipH="1">
            <a:off x="6356875" y="25459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Attendance Reports</a:t>
            </a:r>
            <a:endParaRPr sz="1200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p50"/>
          <p:cNvSpPr txBox="1"/>
          <p:nvPr/>
        </p:nvSpPr>
        <p:spPr>
          <a:xfrm flipH="1">
            <a:off x="4946053" y="3759800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 Out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2" name="Google Shape;522;p50"/>
          <p:cNvSpPr txBox="1"/>
          <p:nvPr/>
        </p:nvSpPr>
        <p:spPr>
          <a:xfrm flipH="1">
            <a:off x="2124025" y="3759800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Administrator Management</a:t>
            </a:r>
            <a:endParaRPr sz="1200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3" name="Google Shape;523;p50"/>
          <p:cNvSpPr txBox="1"/>
          <p:nvPr/>
        </p:nvSpPr>
        <p:spPr>
          <a:xfrm flipH="1">
            <a:off x="3534813" y="25459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Lecturer Dashboard</a:t>
            </a:r>
            <a:endParaRPr sz="1200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24" name="Google Shape;524;p50"/>
          <p:cNvCxnSpPr>
            <a:stCxn id="516" idx="1"/>
            <a:endCxn id="517" idx="3"/>
          </p:cNvCxnSpPr>
          <p:nvPr/>
        </p:nvCxnSpPr>
        <p:spPr>
          <a:xfrm>
            <a:off x="2786675" y="1754113"/>
            <a:ext cx="7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5" name="Google Shape;525;p50"/>
          <p:cNvCxnSpPr>
            <a:stCxn id="517" idx="1"/>
            <a:endCxn id="518" idx="3"/>
          </p:cNvCxnSpPr>
          <p:nvPr/>
        </p:nvCxnSpPr>
        <p:spPr>
          <a:xfrm>
            <a:off x="5608713" y="1754113"/>
            <a:ext cx="7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6" name="Google Shape;526;p50"/>
          <p:cNvCxnSpPr>
            <a:stCxn id="518" idx="2"/>
            <a:endCxn id="519" idx="0"/>
          </p:cNvCxnSpPr>
          <p:nvPr/>
        </p:nvCxnSpPr>
        <p:spPr>
          <a:xfrm rot="5400000">
            <a:off x="4386925" y="-461087"/>
            <a:ext cx="369600" cy="56442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7" name="Google Shape;527;p50"/>
          <p:cNvCxnSpPr>
            <a:stCxn id="523" idx="1"/>
            <a:endCxn id="520" idx="3"/>
          </p:cNvCxnSpPr>
          <p:nvPr/>
        </p:nvCxnSpPr>
        <p:spPr>
          <a:xfrm>
            <a:off x="5608713" y="2968013"/>
            <a:ext cx="7482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8" name="Google Shape;528;p50"/>
          <p:cNvCxnSpPr>
            <a:stCxn id="519" idx="1"/>
            <a:endCxn id="523" idx="3"/>
          </p:cNvCxnSpPr>
          <p:nvPr/>
        </p:nvCxnSpPr>
        <p:spPr>
          <a:xfrm>
            <a:off x="2786649" y="2968006"/>
            <a:ext cx="7482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9" name="Google Shape;529;p50"/>
          <p:cNvCxnSpPr>
            <a:stCxn id="520" idx="2"/>
            <a:endCxn id="522" idx="0"/>
          </p:cNvCxnSpPr>
          <p:nvPr/>
        </p:nvCxnSpPr>
        <p:spPr>
          <a:xfrm rot="5400000">
            <a:off x="5092525" y="1458413"/>
            <a:ext cx="369600" cy="42330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30" name="Google Shape;530;p50"/>
          <p:cNvCxnSpPr>
            <a:stCxn id="522" idx="1"/>
            <a:endCxn id="521" idx="3"/>
          </p:cNvCxnSpPr>
          <p:nvPr/>
        </p:nvCxnSpPr>
        <p:spPr>
          <a:xfrm>
            <a:off x="4197925" y="4181900"/>
            <a:ext cx="748200" cy="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Prototype Features</a:t>
            </a:r>
            <a:endParaRPr dirty="0"/>
          </a:p>
        </p:txBody>
      </p:sp>
      <p:sp>
        <p:nvSpPr>
          <p:cNvPr id="345" name="Google Shape;345;p37"/>
          <p:cNvSpPr txBox="1">
            <a:spLocks noGrp="1"/>
          </p:cNvSpPr>
          <p:nvPr>
            <p:ph type="title" idx="2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46" name="Google Shape;346;p37"/>
          <p:cNvSpPr txBox="1">
            <a:spLocks noGrp="1"/>
          </p:cNvSpPr>
          <p:nvPr>
            <p:ph type="title" idx="3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47" name="Google Shape;347;p37"/>
          <p:cNvSpPr txBox="1">
            <a:spLocks noGrp="1"/>
          </p:cNvSpPr>
          <p:nvPr>
            <p:ph type="title" idx="4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8" name="Google Shape;348;p37"/>
          <p:cNvSpPr txBox="1">
            <a:spLocks noGrp="1"/>
          </p:cNvSpPr>
          <p:nvPr>
            <p:ph type="title" idx="5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49" name="Google Shape;349;p37"/>
          <p:cNvSpPr txBox="1">
            <a:spLocks noGrp="1"/>
          </p:cNvSpPr>
          <p:nvPr>
            <p:ph type="title" idx="6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0" name="Google Shape;350;p37"/>
          <p:cNvSpPr txBox="1">
            <a:spLocks noGrp="1"/>
          </p:cNvSpPr>
          <p:nvPr>
            <p:ph type="title" idx="7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51" name="Google Shape;351;p37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Secure Login</a:t>
            </a:r>
            <a:endParaRPr dirty="0"/>
          </a:p>
        </p:txBody>
      </p:sp>
      <p:sp>
        <p:nvSpPr>
          <p:cNvPr id="352" name="Google Shape;352;p37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Attendance Submission</a:t>
            </a:r>
            <a:endParaRPr dirty="0"/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Attendance History</a:t>
            </a:r>
            <a:endParaRPr dirty="0"/>
          </a:p>
        </p:txBody>
      </p:sp>
      <p:sp>
        <p:nvSpPr>
          <p:cNvPr id="354" name="Google Shape;354;p37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Status Management</a:t>
            </a:r>
            <a:endParaRPr dirty="0"/>
          </a:p>
        </p:txBody>
      </p:sp>
      <p:sp>
        <p:nvSpPr>
          <p:cNvPr id="355" name="Google Shape;355;p37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Dashboard Metrics</a:t>
            </a:r>
            <a:endParaRPr dirty="0"/>
          </a:p>
        </p:txBody>
      </p:sp>
      <p:sp>
        <p:nvSpPr>
          <p:cNvPr id="356" name="Google Shape;356;p37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Admin Functions</a:t>
            </a:r>
            <a:endParaRPr dirty="0"/>
          </a:p>
        </p:txBody>
      </p:sp>
      <p:pic>
        <p:nvPicPr>
          <p:cNvPr id="357" name="Google Shape;3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3712050"/>
            <a:ext cx="1768000" cy="13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64;p38">
            <a:extLst>
              <a:ext uri="{FF2B5EF4-FFF2-40B4-BE49-F238E27FC236}">
                <a16:creationId xmlns:a16="http://schemas.microsoft.com/office/drawing/2014/main" id="{66CDCA06-5719-A65C-0AF4-5F80698BC5A2}"/>
              </a:ext>
            </a:extLst>
          </p:cNvPr>
          <p:cNvSpPr txBox="1">
            <a:spLocks/>
          </p:cNvSpPr>
          <p:nvPr/>
        </p:nvSpPr>
        <p:spPr>
          <a:xfrm>
            <a:off x="563206" y="545193"/>
            <a:ext cx="8195032" cy="1362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/>
            <a:r>
              <a:rPr lang="en-US" sz="1600" b="1" dirty="0"/>
              <a:t>ID &amp; Password Authentication</a:t>
            </a:r>
          </a:p>
          <a:p>
            <a:pPr marL="15240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Students log in using their Student ID and Password.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Role-based access for Students, Lecturers, and Administrators.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Secure authentication before accessing the system.</a:t>
            </a:r>
          </a:p>
        </p:txBody>
      </p:sp>
      <p:sp>
        <p:nvSpPr>
          <p:cNvPr id="13" name="Google Shape;364;p38">
            <a:extLst>
              <a:ext uri="{FF2B5EF4-FFF2-40B4-BE49-F238E27FC236}">
                <a16:creationId xmlns:a16="http://schemas.microsoft.com/office/drawing/2014/main" id="{0AB336A5-DBAA-9EF3-4732-EC7AEC8B8978}"/>
              </a:ext>
            </a:extLst>
          </p:cNvPr>
          <p:cNvSpPr txBox="1">
            <a:spLocks/>
          </p:cNvSpPr>
          <p:nvPr/>
        </p:nvSpPr>
        <p:spPr>
          <a:xfrm>
            <a:off x="563204" y="2112056"/>
            <a:ext cx="8195033" cy="1362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/>
            <a:r>
              <a:rPr lang="en-US" sz="1600" b="1" dirty="0"/>
              <a:t>Attendance Submission</a:t>
            </a:r>
          </a:p>
          <a:p>
            <a:pPr marL="15240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One-click attendance recording.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Instant confirmation after submission.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Prevents duplicate attendance entries.</a:t>
            </a:r>
          </a:p>
        </p:txBody>
      </p:sp>
      <p:sp>
        <p:nvSpPr>
          <p:cNvPr id="15" name="Google Shape;364;p38">
            <a:extLst>
              <a:ext uri="{FF2B5EF4-FFF2-40B4-BE49-F238E27FC236}">
                <a16:creationId xmlns:a16="http://schemas.microsoft.com/office/drawing/2014/main" id="{FCA7A33B-84D8-C6E6-6CBD-8A2C03968CC0}"/>
              </a:ext>
            </a:extLst>
          </p:cNvPr>
          <p:cNvSpPr txBox="1">
            <a:spLocks/>
          </p:cNvSpPr>
          <p:nvPr/>
        </p:nvSpPr>
        <p:spPr>
          <a:xfrm>
            <a:off x="563204" y="3678919"/>
            <a:ext cx="8195033" cy="1362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/>
            <a:r>
              <a:rPr lang="en-US" sz="1600" b="1" dirty="0"/>
              <a:t>Attendance History</a:t>
            </a:r>
          </a:p>
          <a:p>
            <a:pPr marL="15240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Students can view previous attendance records.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Displays attendance date and status.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Promotes transparency and self-monitoring.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>
          <a:extLst>
            <a:ext uri="{FF2B5EF4-FFF2-40B4-BE49-F238E27FC236}">
              <a16:creationId xmlns:a16="http://schemas.microsoft.com/office/drawing/2014/main" id="{60A40E2E-70B8-9EAE-02A4-15B9B185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64;p38">
            <a:extLst>
              <a:ext uri="{FF2B5EF4-FFF2-40B4-BE49-F238E27FC236}">
                <a16:creationId xmlns:a16="http://schemas.microsoft.com/office/drawing/2014/main" id="{ECC543B5-55EE-C9CE-065D-FAB1C921AE8F}"/>
              </a:ext>
            </a:extLst>
          </p:cNvPr>
          <p:cNvSpPr txBox="1">
            <a:spLocks/>
          </p:cNvSpPr>
          <p:nvPr/>
        </p:nvSpPr>
        <p:spPr>
          <a:xfrm>
            <a:off x="563206" y="545193"/>
            <a:ext cx="8195032" cy="1362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/>
            <a:r>
              <a:rPr lang="en-US" sz="1600" b="1" dirty="0"/>
              <a:t>Search &amp; Filter</a:t>
            </a:r>
          </a:p>
          <a:p>
            <a:pPr marL="15240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Search attendance records by Student ID or Name.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Filter records by class, date, or attendance status.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Quickly locate specific attendance information.</a:t>
            </a:r>
          </a:p>
        </p:txBody>
      </p:sp>
      <p:sp>
        <p:nvSpPr>
          <p:cNvPr id="13" name="Google Shape;364;p38">
            <a:extLst>
              <a:ext uri="{FF2B5EF4-FFF2-40B4-BE49-F238E27FC236}">
                <a16:creationId xmlns:a16="http://schemas.microsoft.com/office/drawing/2014/main" id="{5F42F90A-5A9A-F65F-7ACA-FB664AF00D89}"/>
              </a:ext>
            </a:extLst>
          </p:cNvPr>
          <p:cNvSpPr txBox="1">
            <a:spLocks/>
          </p:cNvSpPr>
          <p:nvPr/>
        </p:nvSpPr>
        <p:spPr>
          <a:xfrm>
            <a:off x="563204" y="2112056"/>
            <a:ext cx="4551721" cy="1362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/>
            <a:r>
              <a:rPr lang="en-US" sz="1600" b="1" dirty="0"/>
              <a:t>Status Management</a:t>
            </a:r>
          </a:p>
          <a:p>
            <a:pPr marL="15240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Manage attendance status: Present, Late, Absent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Easy updates for lecturers and administrators.</a:t>
            </a:r>
          </a:p>
        </p:txBody>
      </p:sp>
      <p:sp>
        <p:nvSpPr>
          <p:cNvPr id="15" name="Google Shape;364;p38">
            <a:extLst>
              <a:ext uri="{FF2B5EF4-FFF2-40B4-BE49-F238E27FC236}">
                <a16:creationId xmlns:a16="http://schemas.microsoft.com/office/drawing/2014/main" id="{BE3D9466-5552-7E7C-AE5D-CE5C0C601EE6}"/>
              </a:ext>
            </a:extLst>
          </p:cNvPr>
          <p:cNvSpPr txBox="1">
            <a:spLocks/>
          </p:cNvSpPr>
          <p:nvPr/>
        </p:nvSpPr>
        <p:spPr>
          <a:xfrm>
            <a:off x="563204" y="3414601"/>
            <a:ext cx="3015815" cy="16360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/>
            <a:r>
              <a:rPr lang="en-US" sz="1600" b="1" dirty="0"/>
              <a:t>Dashboard Metrics</a:t>
            </a:r>
          </a:p>
          <a:p>
            <a:pPr marL="15240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Total students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Present today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Absent today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Attendance percentage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Quick attendance summary</a:t>
            </a:r>
          </a:p>
        </p:txBody>
      </p:sp>
      <p:sp>
        <p:nvSpPr>
          <p:cNvPr id="3" name="Google Shape;364;p38">
            <a:extLst>
              <a:ext uri="{FF2B5EF4-FFF2-40B4-BE49-F238E27FC236}">
                <a16:creationId xmlns:a16="http://schemas.microsoft.com/office/drawing/2014/main" id="{D2B978F7-D824-6080-C7EA-09EB30F2467B}"/>
              </a:ext>
            </a:extLst>
          </p:cNvPr>
          <p:cNvSpPr txBox="1">
            <a:spLocks/>
          </p:cNvSpPr>
          <p:nvPr/>
        </p:nvSpPr>
        <p:spPr>
          <a:xfrm>
            <a:off x="5659079" y="1975135"/>
            <a:ext cx="3015815" cy="16360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/>
            <a:r>
              <a:rPr lang="en-US" sz="1600" b="1" dirty="0"/>
              <a:t>Admin Functions</a:t>
            </a:r>
          </a:p>
          <a:p>
            <a:pPr marL="15240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Manage student accounts.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Manage lecturer accounts.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View all attendance records.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Generate attendance reports.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Maintain system data.</a:t>
            </a:r>
          </a:p>
        </p:txBody>
      </p:sp>
    </p:spTree>
    <p:extLst>
      <p:ext uri="{BB962C8B-B14F-4D97-AF65-F5344CB8AC3E}">
        <p14:creationId xmlns:p14="http://schemas.microsoft.com/office/powerpoint/2010/main" val="115577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2"/>
          <p:cNvSpPr txBox="1">
            <a:spLocks noGrp="1"/>
          </p:cNvSpPr>
          <p:nvPr>
            <p:ph type="title"/>
          </p:nvPr>
        </p:nvSpPr>
        <p:spPr>
          <a:xfrm>
            <a:off x="2153840" y="232119"/>
            <a:ext cx="4836319" cy="6961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Product Demonstration</a:t>
            </a:r>
            <a:endParaRPr dirty="0"/>
          </a:p>
        </p:txBody>
      </p:sp>
      <p:pic>
        <p:nvPicPr>
          <p:cNvPr id="545" name="Google Shape;545;p52"/>
          <p:cNvPicPr preferRelativeResize="0">
            <a:picLocks noGrp="1"/>
          </p:cNvPicPr>
          <p:nvPr>
            <p:ph type="pic" idx="4"/>
          </p:nvPr>
        </p:nvPicPr>
        <p:blipFill>
          <a:blip r:embed="rId3">
            <a:alphaModFix/>
          </a:blip>
          <a:srcRect t="1510" b="1510"/>
          <a:stretch/>
        </p:blipFill>
        <p:spPr>
          <a:xfrm>
            <a:off x="5430935" y="2960543"/>
            <a:ext cx="3587212" cy="1650300"/>
          </a:xfrm>
          <a:prstGeom prst="round2DiagRect">
            <a:avLst>
              <a:gd name="adj1" fmla="val 0"/>
              <a:gd name="adj2" fmla="val 50000"/>
            </a:avLst>
          </a:prstGeom>
        </p:spPr>
      </p:pic>
      <p:pic>
        <p:nvPicPr>
          <p:cNvPr id="4" name="Google Shape;545;p52">
            <a:extLst>
              <a:ext uri="{FF2B5EF4-FFF2-40B4-BE49-F238E27FC236}">
                <a16:creationId xmlns:a16="http://schemas.microsoft.com/office/drawing/2014/main" id="{672D03A6-F0D6-FAAC-4B98-6BAE351E1417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alphaModFix/>
          </a:blip>
          <a:srcRect t="1543" b="1543"/>
          <a:stretch/>
        </p:blipFill>
        <p:spPr>
          <a:xfrm>
            <a:off x="1282557" y="2960543"/>
            <a:ext cx="3587212" cy="1650300"/>
          </a:xfrm>
          <a:prstGeom prst="round2DiagRect">
            <a:avLst>
              <a:gd name="adj1" fmla="val 0"/>
              <a:gd name="adj2" fmla="val 50000"/>
            </a:avLst>
          </a:prstGeom>
          <a:noFill/>
          <a:ln>
            <a:noFill/>
          </a:ln>
        </p:spPr>
      </p:pic>
      <p:pic>
        <p:nvPicPr>
          <p:cNvPr id="7" name="Google Shape;545;p52">
            <a:extLst>
              <a:ext uri="{FF2B5EF4-FFF2-40B4-BE49-F238E27FC236}">
                <a16:creationId xmlns:a16="http://schemas.microsoft.com/office/drawing/2014/main" id="{521BC70F-7B18-787A-1FD7-45FF4E30933A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alphaModFix/>
          </a:blip>
          <a:srcRect t="1669" b="1669"/>
          <a:stretch/>
        </p:blipFill>
        <p:spPr>
          <a:xfrm>
            <a:off x="4571999" y="1119259"/>
            <a:ext cx="3587212" cy="1650300"/>
          </a:xfrm>
          <a:prstGeom prst="round2DiagRect">
            <a:avLst>
              <a:gd name="adj1" fmla="val 0"/>
              <a:gd name="adj2" fmla="val 50000"/>
            </a:avLst>
          </a:prstGeom>
          <a:noFill/>
          <a:ln>
            <a:noFill/>
          </a:ln>
        </p:spPr>
      </p:pic>
      <p:pic>
        <p:nvPicPr>
          <p:cNvPr id="8" name="Google Shape;545;p52">
            <a:extLst>
              <a:ext uri="{FF2B5EF4-FFF2-40B4-BE49-F238E27FC236}">
                <a16:creationId xmlns:a16="http://schemas.microsoft.com/office/drawing/2014/main" id="{5C9EAB12-CEC0-D408-81AE-3CF662A520B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alphaModFix/>
          </a:blip>
          <a:srcRect t="2175" b="2175"/>
          <a:stretch/>
        </p:blipFill>
        <p:spPr>
          <a:xfrm>
            <a:off x="445656" y="1119259"/>
            <a:ext cx="3587212" cy="1650300"/>
          </a:xfrm>
          <a:prstGeom prst="round2DiagRect">
            <a:avLst>
              <a:gd name="adj1" fmla="val 0"/>
              <a:gd name="adj2" fmla="val 5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Validation Results</a:t>
            </a:r>
            <a:endParaRPr dirty="0"/>
          </a:p>
        </p:txBody>
      </p:sp>
      <p:graphicFrame>
        <p:nvGraphicFramePr>
          <p:cNvPr id="559" name="Google Shape;559;p54"/>
          <p:cNvGraphicFramePr/>
          <p:nvPr>
            <p:extLst>
              <p:ext uri="{D42A27DB-BD31-4B8C-83A1-F6EECF244321}">
                <p14:modId xmlns:p14="http://schemas.microsoft.com/office/powerpoint/2010/main" val="2593919852"/>
              </p:ext>
            </p:extLst>
          </p:nvPr>
        </p:nvGraphicFramePr>
        <p:xfrm>
          <a:off x="331938" y="1409726"/>
          <a:ext cx="3154576" cy="3019375"/>
        </p:xfrm>
        <a:graphic>
          <a:graphicData uri="http://schemas.openxmlformats.org/drawingml/2006/table">
            <a:tbl>
              <a:tblPr>
                <a:noFill/>
                <a:tableStyleId>{3FD0C0F8-E8D7-46C9-A92F-CA43A2C92377}</a:tableStyleId>
              </a:tblPr>
              <a:tblGrid>
                <a:gridCol w="2187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sz="1400" b="1" dirty="0">
                        <a:solidFill>
                          <a:schemeClr val="bg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45700" marB="45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Login Success Rate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10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Attendance Recording Success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10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Task Completion Rate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10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Average Completion Time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22 seconds</a:t>
                      </a:r>
                      <a:endParaRPr sz="10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User Satisfaction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4.8 / 5</a:t>
                      </a:r>
                      <a:endParaRPr sz="10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Would Recommend the System</a:t>
                      </a:r>
                      <a:endParaRPr sz="10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 YES</a:t>
                      </a:r>
                      <a:endParaRPr sz="10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0" name="Google Shape;560;p54"/>
          <p:cNvSpPr txBox="1"/>
          <p:nvPr/>
        </p:nvSpPr>
        <p:spPr>
          <a:xfrm>
            <a:off x="4105475" y="1196576"/>
            <a:ext cx="2047200" cy="42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1800" b="1" dirty="0"/>
              <a:t>10 participants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1" name="Google Shape;561;p54"/>
          <p:cNvSpPr txBox="1"/>
          <p:nvPr/>
        </p:nvSpPr>
        <p:spPr>
          <a:xfrm>
            <a:off x="6383574" y="1196576"/>
            <a:ext cx="2047200" cy="42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105475" y="1596776"/>
            <a:ext cx="2047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/>
              <a:t>tested the prototype.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54"/>
          <p:cNvSpPr txBox="1"/>
          <p:nvPr/>
        </p:nvSpPr>
        <p:spPr>
          <a:xfrm>
            <a:off x="6383573" y="1596776"/>
            <a:ext cx="2047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/>
              <a:t>completed the core system tasks.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561;p54">
            <a:extLst>
              <a:ext uri="{FF2B5EF4-FFF2-40B4-BE49-F238E27FC236}">
                <a16:creationId xmlns:a16="http://schemas.microsoft.com/office/drawing/2014/main" id="{7D1D9BBC-7D30-DA46-1BDC-2BE8F3931B57}"/>
              </a:ext>
            </a:extLst>
          </p:cNvPr>
          <p:cNvSpPr txBox="1"/>
          <p:nvPr/>
        </p:nvSpPr>
        <p:spPr>
          <a:xfrm>
            <a:off x="5359973" y="2341076"/>
            <a:ext cx="2047200" cy="42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Feedbacks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364;p38">
            <a:extLst>
              <a:ext uri="{FF2B5EF4-FFF2-40B4-BE49-F238E27FC236}">
                <a16:creationId xmlns:a16="http://schemas.microsoft.com/office/drawing/2014/main" id="{E40D24DC-5C07-EEE8-21BD-673BD5D40C7F}"/>
              </a:ext>
            </a:extLst>
          </p:cNvPr>
          <p:cNvSpPr txBox="1">
            <a:spLocks/>
          </p:cNvSpPr>
          <p:nvPr/>
        </p:nvSpPr>
        <p:spPr>
          <a:xfrm>
            <a:off x="3486514" y="2901884"/>
            <a:ext cx="2047199" cy="1927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/>
            <a:r>
              <a:rPr lang="en-US" sz="1600" b="1" dirty="0"/>
              <a:t>Students</a:t>
            </a:r>
          </a:p>
          <a:p>
            <a:pPr marL="15240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Attendance recording is quick and easy.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Attendance history is useful.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The interface is simple to understand.</a:t>
            </a:r>
          </a:p>
        </p:txBody>
      </p:sp>
      <p:sp>
        <p:nvSpPr>
          <p:cNvPr id="7" name="Google Shape;364;p38">
            <a:extLst>
              <a:ext uri="{FF2B5EF4-FFF2-40B4-BE49-F238E27FC236}">
                <a16:creationId xmlns:a16="http://schemas.microsoft.com/office/drawing/2014/main" id="{1264EA36-C205-8A4C-25F7-23C405E1E86B}"/>
              </a:ext>
            </a:extLst>
          </p:cNvPr>
          <p:cNvSpPr txBox="1">
            <a:spLocks/>
          </p:cNvSpPr>
          <p:nvPr/>
        </p:nvSpPr>
        <p:spPr>
          <a:xfrm>
            <a:off x="5533713" y="2901883"/>
            <a:ext cx="2047199" cy="1927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Lecturer</a:t>
            </a:r>
          </a:p>
          <a:p>
            <a:pPr marL="152400"/>
            <a:endParaRPr lang="en-US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Dashboard makes attendance monitoring easier.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Reports are clear and save time.</a:t>
            </a:r>
          </a:p>
        </p:txBody>
      </p:sp>
      <p:sp>
        <p:nvSpPr>
          <p:cNvPr id="9" name="Google Shape;364;p38">
            <a:extLst>
              <a:ext uri="{FF2B5EF4-FFF2-40B4-BE49-F238E27FC236}">
                <a16:creationId xmlns:a16="http://schemas.microsoft.com/office/drawing/2014/main" id="{261BB97A-11DA-89B8-2106-3817ABDCE66A}"/>
              </a:ext>
            </a:extLst>
          </p:cNvPr>
          <p:cNvSpPr txBox="1">
            <a:spLocks/>
          </p:cNvSpPr>
          <p:nvPr/>
        </p:nvSpPr>
        <p:spPr>
          <a:xfrm>
            <a:off x="7407173" y="2919413"/>
            <a:ext cx="1736827" cy="1927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Administrator</a:t>
            </a:r>
          </a:p>
          <a:p>
            <a:pPr marL="152400"/>
            <a:endParaRPr lang="en-US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User management is straightforward.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Attendance records are well organized.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No Centralized Database</a:t>
            </a:r>
            <a:endParaRPr dirty="0"/>
          </a:p>
        </p:txBody>
      </p:sp>
      <p:sp>
        <p:nvSpPr>
          <p:cNvPr id="444" name="Google Shape;444;p4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Current Limitations</a:t>
            </a:r>
            <a:endParaRPr dirty="0"/>
          </a:p>
        </p:txBody>
      </p:sp>
      <p:sp>
        <p:nvSpPr>
          <p:cNvPr id="445" name="Google Shape;445;p43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Attendance data is stored in the browser's Local Storage.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Data may be lost if the browser cache is cleared.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Not suitable for long-term or large-scale deployment.</a:t>
            </a:r>
          </a:p>
        </p:txBody>
      </p:sp>
      <p:sp>
        <p:nvSpPr>
          <p:cNvPr id="446" name="Google Shape;446;p43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Passwords are stored without advanced encryption.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Current authentication is suitable only for prototype purposes.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Future versions should implement password hashing and secure authentication.</a:t>
            </a:r>
          </a:p>
        </p:txBody>
      </p:sp>
      <p:sp>
        <p:nvSpPr>
          <p:cNvPr id="447" name="Google Shape;447;p43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Data is not shared between different devices.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Lecturers and administrators cannot access the same records from multiple computers.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Future versions should use a cloud or SQL database.</a:t>
            </a:r>
          </a:p>
        </p:txBody>
      </p:sp>
      <p:sp>
        <p:nvSpPr>
          <p:cNvPr id="448" name="Google Shape;448;p43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Attendance records are available only on the device where they were created.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Users cannot synchronize data across multiple devices.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Cloud synchronization is planned for future development.</a:t>
            </a:r>
          </a:p>
        </p:txBody>
      </p:sp>
      <p:sp>
        <p:nvSpPr>
          <p:cNvPr id="449" name="Google Shape;449;p43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Browser Local Storage Only</a:t>
            </a:r>
            <a:endParaRPr dirty="0"/>
          </a:p>
        </p:txBody>
      </p:sp>
      <p:sp>
        <p:nvSpPr>
          <p:cNvPr id="450" name="Google Shape;450;p43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No Password Encryption</a:t>
            </a:r>
            <a:endParaRPr dirty="0"/>
          </a:p>
        </p:txBody>
      </p:sp>
      <p:sp>
        <p:nvSpPr>
          <p:cNvPr id="451" name="Google Shape;451;p43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Single-Device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AD5FCC45-6B4F-7EB9-7630-9E7FD7F3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>
            <a:extLst>
              <a:ext uri="{FF2B5EF4-FFF2-40B4-BE49-F238E27FC236}">
                <a16:creationId xmlns:a16="http://schemas.microsoft.com/office/drawing/2014/main" id="{3435AA17-2A71-7169-F523-CFC40D8BA8F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763113" y="3454300"/>
            <a:ext cx="3859144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Cloud Database</a:t>
            </a:r>
            <a:endParaRPr dirty="0"/>
          </a:p>
        </p:txBody>
      </p:sp>
      <p:sp>
        <p:nvSpPr>
          <p:cNvPr id="444" name="Google Shape;444;p43">
            <a:extLst>
              <a:ext uri="{FF2B5EF4-FFF2-40B4-BE49-F238E27FC236}">
                <a16:creationId xmlns:a16="http://schemas.microsoft.com/office/drawing/2014/main" id="{19424607-3B08-629E-6B42-9ECA240E14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Future Improvements</a:t>
            </a:r>
            <a:endParaRPr dirty="0"/>
          </a:p>
        </p:txBody>
      </p:sp>
      <p:sp>
        <p:nvSpPr>
          <p:cNvPr id="445" name="Google Shape;445;p43">
            <a:extLst>
              <a:ext uri="{FF2B5EF4-FFF2-40B4-BE49-F238E27FC236}">
                <a16:creationId xmlns:a16="http://schemas.microsoft.com/office/drawing/2014/main" id="{7DE386F1-C8A1-4ADB-7CBC-008AE3995D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7112" y="1866850"/>
            <a:ext cx="4094888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Replace browser Local Storage with a secure backend server.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Implement user authentication and authorization.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Encrypt sensitive user information and passwords.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Improve system reliability and data security.</a:t>
            </a:r>
          </a:p>
        </p:txBody>
      </p:sp>
      <p:sp>
        <p:nvSpPr>
          <p:cNvPr id="446" name="Google Shape;446;p43">
            <a:extLst>
              <a:ext uri="{FF2B5EF4-FFF2-40B4-BE49-F238E27FC236}">
                <a16:creationId xmlns:a16="http://schemas.microsoft.com/office/drawing/2014/main" id="{12435692-B7B8-7CB3-CC70-18CA442CA10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117329" y="18668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Integrate with the university's Student Information System (SIS).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Automatically import student and lecturer accounts.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Support multiple faculties, departments, and courses.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Simplify user administration.</a:t>
            </a:r>
          </a:p>
        </p:txBody>
      </p:sp>
      <p:sp>
        <p:nvSpPr>
          <p:cNvPr id="447" name="Google Shape;447;p43">
            <a:extLst>
              <a:ext uri="{FF2B5EF4-FFF2-40B4-BE49-F238E27FC236}">
                <a16:creationId xmlns:a16="http://schemas.microsoft.com/office/drawing/2014/main" id="{AD8D273A-3750-9095-523C-34E66221767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763113" y="3703589"/>
            <a:ext cx="3859144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Store attendance records in a cloud database (e.g., MySQL, PostgreSQL, Firebase).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Enable secure backup and recovery.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Allow access from multiple devices.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Improve scalability for larger institutions.</a:t>
            </a:r>
          </a:p>
        </p:txBody>
      </p:sp>
      <p:sp>
        <p:nvSpPr>
          <p:cNvPr id="449" name="Google Shape;449;p43">
            <a:extLst>
              <a:ext uri="{FF2B5EF4-FFF2-40B4-BE49-F238E27FC236}">
                <a16:creationId xmlns:a16="http://schemas.microsoft.com/office/drawing/2014/main" id="{AA6EBC9F-2626-EBB3-A05F-24E9C34070D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7112" y="16173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Secure Backend</a:t>
            </a:r>
            <a:endParaRPr dirty="0"/>
          </a:p>
        </p:txBody>
      </p:sp>
      <p:sp>
        <p:nvSpPr>
          <p:cNvPr id="450" name="Google Shape;450;p43">
            <a:extLst>
              <a:ext uri="{FF2B5EF4-FFF2-40B4-BE49-F238E27FC236}">
                <a16:creationId xmlns:a16="http://schemas.microsoft.com/office/drawing/2014/main" id="{A9647383-4950-4317-951D-889F8B389163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117290" y="1617386"/>
            <a:ext cx="4094888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Institutional User Management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7743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3AFFDDDB-AB5A-D5C6-FF31-E5174C29A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>
            <a:extLst>
              <a:ext uri="{FF2B5EF4-FFF2-40B4-BE49-F238E27FC236}">
                <a16:creationId xmlns:a16="http://schemas.microsoft.com/office/drawing/2014/main" id="{16E6CECA-9994-7E58-11F4-9285098A00A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763113" y="3454300"/>
            <a:ext cx="4359206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Mobile-Responsive Improvements</a:t>
            </a:r>
            <a:endParaRPr dirty="0"/>
          </a:p>
        </p:txBody>
      </p:sp>
      <p:sp>
        <p:nvSpPr>
          <p:cNvPr id="444" name="Google Shape;444;p43">
            <a:extLst>
              <a:ext uri="{FF2B5EF4-FFF2-40B4-BE49-F238E27FC236}">
                <a16:creationId xmlns:a16="http://schemas.microsoft.com/office/drawing/2014/main" id="{944DE5D9-30F4-7FCA-9E54-93C316D20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Future Improvements</a:t>
            </a:r>
            <a:endParaRPr dirty="0"/>
          </a:p>
        </p:txBody>
      </p:sp>
      <p:sp>
        <p:nvSpPr>
          <p:cNvPr id="445" name="Google Shape;445;p43">
            <a:extLst>
              <a:ext uri="{FF2B5EF4-FFF2-40B4-BE49-F238E27FC236}">
                <a16:creationId xmlns:a16="http://schemas.microsoft.com/office/drawing/2014/main" id="{137CCD79-2B64-3779-A794-9D400BF5B0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7112" y="1866850"/>
            <a:ext cx="4094888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Synchronize attendance records instantly across all devices.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Allow lecturers to monitor attendance in real time.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Ensure data consistency for students, lecturers, and administrators.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Support live classroom updates.</a:t>
            </a:r>
          </a:p>
        </p:txBody>
      </p:sp>
      <p:sp>
        <p:nvSpPr>
          <p:cNvPr id="446" name="Google Shape;446;p43">
            <a:extLst>
              <a:ext uri="{FF2B5EF4-FFF2-40B4-BE49-F238E27FC236}">
                <a16:creationId xmlns:a16="http://schemas.microsoft.com/office/drawing/2014/main" id="{3915383C-7561-A076-9C87-6737D0FD83A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117329" y="18668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Interactive attendance dashboards.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Export reports to </a:t>
            </a:r>
            <a:r>
              <a:rPr lang="en-US" b="1" dirty="0"/>
              <a:t>PDF</a:t>
            </a:r>
            <a:r>
              <a:rPr lang="en-US" dirty="0"/>
              <a:t>, </a:t>
            </a:r>
            <a:r>
              <a:rPr lang="en-US" b="1" dirty="0"/>
              <a:t>Excel</a:t>
            </a:r>
            <a:r>
              <a:rPr lang="en-US" dirty="0"/>
              <a:t>, and </a:t>
            </a:r>
            <a:r>
              <a:rPr lang="en-US" b="1" dirty="0"/>
              <a:t>CSV</a:t>
            </a:r>
            <a:r>
              <a:rPr lang="en-US" dirty="0"/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Attendance trends and analytics.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Early identification of students with low attendance.</a:t>
            </a:r>
          </a:p>
        </p:txBody>
      </p:sp>
      <p:sp>
        <p:nvSpPr>
          <p:cNvPr id="447" name="Google Shape;447;p43">
            <a:extLst>
              <a:ext uri="{FF2B5EF4-FFF2-40B4-BE49-F238E27FC236}">
                <a16:creationId xmlns:a16="http://schemas.microsoft.com/office/drawing/2014/main" id="{B3DC3701-CB23-AEAB-DB11-6AB1486E0BA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763112" y="3703589"/>
            <a:ext cx="4752113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Optimize the interface for smartphones and tablets.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Improve usability on different screen sizes.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Develop a dedicated Android and iOS application in the future.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Enable convenient attendance management on mobile devices.</a:t>
            </a:r>
          </a:p>
        </p:txBody>
      </p:sp>
      <p:sp>
        <p:nvSpPr>
          <p:cNvPr id="449" name="Google Shape;449;p43">
            <a:extLst>
              <a:ext uri="{FF2B5EF4-FFF2-40B4-BE49-F238E27FC236}">
                <a16:creationId xmlns:a16="http://schemas.microsoft.com/office/drawing/2014/main" id="{A9B200FB-3A78-BF0D-9A1D-5E184450B89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7112" y="16173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Real-Time Synchronization</a:t>
            </a:r>
            <a:endParaRPr dirty="0"/>
          </a:p>
        </p:txBody>
      </p:sp>
      <p:sp>
        <p:nvSpPr>
          <p:cNvPr id="450" name="Google Shape;450;p43">
            <a:extLst>
              <a:ext uri="{FF2B5EF4-FFF2-40B4-BE49-F238E27FC236}">
                <a16:creationId xmlns:a16="http://schemas.microsoft.com/office/drawing/2014/main" id="{2711C1F4-1924-AF8A-C862-D08B2723365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117290" y="1617386"/>
            <a:ext cx="4094888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Advanced Reporting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8605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 txBox="1">
            <a:spLocks noGrp="1"/>
          </p:cNvSpPr>
          <p:nvPr>
            <p:ph type="title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484" name="Google Shape;484;p46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1267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HEHe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Htut Myat Moe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Sai Kaung Htet Kyaw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Hein Htet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Microsoft Office PowerPoint</Application>
  <PresentationFormat>On-screen Show (16:9)</PresentationFormat>
  <Paragraphs>249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Poppins</vt:lpstr>
      <vt:lpstr>Anaheim</vt:lpstr>
      <vt:lpstr>Nunito Light</vt:lpstr>
      <vt:lpstr>Industrial Preliminary Project by Slidesgo</vt:lpstr>
      <vt:lpstr>SMART CLASS ATTENDANCE SYSTEM</vt:lpstr>
      <vt:lpstr>Challenges of Traditional Classroom Attendance</vt:lpstr>
      <vt:lpstr>Challenges of Traditional Classroom Attendance</vt:lpstr>
      <vt:lpstr>Who Benefits from the Smart Classroom Attendance System?</vt:lpstr>
      <vt:lpstr>Target Users</vt:lpstr>
      <vt:lpstr>Target Users</vt:lpstr>
      <vt:lpstr>User Evidence</vt:lpstr>
      <vt:lpstr>Role-Based Smart Classroom Attendance System</vt:lpstr>
      <vt:lpstr>How the System Works</vt:lpstr>
      <vt:lpstr>Prototype Features</vt:lpstr>
      <vt:lpstr>PowerPoint Presentation</vt:lpstr>
      <vt:lpstr>PowerPoint Presentation</vt:lpstr>
      <vt:lpstr>Product Demonstration</vt:lpstr>
      <vt:lpstr>Validation Results</vt:lpstr>
      <vt:lpstr>Current Limitations</vt:lpstr>
      <vt:lpstr>Future Improvements</vt:lpstr>
      <vt:lpstr>Future Improvements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Kaung Htet</dc:creator>
  <cp:lastModifiedBy>Sai Kaung Htet</cp:lastModifiedBy>
  <cp:revision>1</cp:revision>
  <dcterms:modified xsi:type="dcterms:W3CDTF">2026-07-31T17:58:45Z</dcterms:modified>
</cp:coreProperties>
</file>